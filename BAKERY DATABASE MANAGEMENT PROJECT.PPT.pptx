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05" r:id="rId3"/>
    <p:sldId id="275" r:id="rId4"/>
    <p:sldId id="27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72" r:id="rId17"/>
    <p:sldId id="269" r:id="rId18"/>
    <p:sldId id="270" r:id="rId19"/>
    <p:sldId id="325" r:id="rId20"/>
    <p:sldId id="271" r:id="rId21"/>
    <p:sldId id="267" r:id="rId22"/>
    <p:sldId id="30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1615" y="1507490"/>
            <a:ext cx="11241405" cy="20612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200"/>
              <a:t>MBARARA UNIVERSITY OF SCIENCE AND TECHNOLOGY</a:t>
            </a:r>
            <a:endParaRPr lang="en-US" sz="3200"/>
          </a:p>
          <a:p>
            <a:r>
              <a:rPr lang="en-US" sz="3200"/>
              <a:t>MUSASIZI NOREEN</a:t>
            </a:r>
            <a:endParaRPr lang="en-US" sz="3200"/>
          </a:p>
          <a:p>
            <a:r>
              <a:rPr lang="en-US" sz="3200"/>
              <a:t>GROUP B</a:t>
            </a:r>
            <a:endParaRPr lang="en-US" sz="3200"/>
          </a:p>
          <a:p>
            <a:r>
              <a:rPr lang="en-US" sz="3200"/>
              <a:t>2025/BCS/201/PS</a:t>
            </a:r>
            <a:endParaRPr 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200" dirty="0" smtClean="0"/>
              <a:t>TABLE OF CONTENT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949" y="773565"/>
            <a:ext cx="9905999" cy="3541714"/>
          </a:xfrm>
        </p:spPr>
        <p:txBody>
          <a:bodyPr>
            <a:normAutofit fontScale="25000"/>
          </a:bodyPr>
          <a:lstStyle/>
          <a:p>
            <a:pPr>
              <a:lnSpc>
                <a:spcPct val="150000"/>
              </a:lnSpc>
            </a:pPr>
            <a:r>
              <a:rPr lang="en-US" sz="4800" dirty="0" smtClean="0"/>
              <a:t>Executive summary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Database project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Area of interest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Possible database systems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Reason for the area of interest 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Business case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Application domain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Analysis of benefits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Analysis of costs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User issues</a:t>
            </a:r>
            <a:endParaRPr lang="en-US" sz="4800" dirty="0" smtClean="0"/>
          </a:p>
          <a:p>
            <a:pPr>
              <a:lnSpc>
                <a:spcPct val="150000"/>
              </a:lnSpc>
            </a:pPr>
            <a:r>
              <a:rPr lang="en-US" sz="4800" dirty="0" smtClean="0"/>
              <a:t>Risk assessment</a:t>
            </a:r>
            <a:endParaRPr lang="en-US" sz="480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4800" dirty="0" smtClean="0"/>
          </a:p>
          <a:p>
            <a:pPr>
              <a:lnSpc>
                <a:spcPct val="150000"/>
              </a:lnSpc>
            </a:pPr>
            <a:endParaRPr lang="en-US" sz="4800" dirty="0"/>
          </a:p>
          <a:p>
            <a:pPr>
              <a:lnSpc>
                <a:spcPct val="150000"/>
              </a:lnSpc>
            </a:pPr>
            <a:endParaRPr lang="en-US" sz="4800" dirty="0" smtClean="0"/>
          </a:p>
          <a:p>
            <a:pPr>
              <a:lnSpc>
                <a:spcPct val="150000"/>
              </a:lnSpc>
            </a:pPr>
            <a:endParaRPr lang="en-US" sz="4800" dirty="0" smtClean="0"/>
          </a:p>
          <a:p>
            <a:pPr>
              <a:lnSpc>
                <a:spcPct val="150000"/>
              </a:lnSpc>
            </a:pPr>
            <a:endParaRPr lang="en-US" sz="4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200" dirty="0" smtClean="0"/>
              <a:t>CONTINUATION OF TABLE OF CONTENT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170" y="655955"/>
            <a:ext cx="10972800" cy="495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dirty="0" smtClean="0"/>
              <a:t>List of entities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List of entities and attributes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Entity relationships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Add multiplication to 4.3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User interface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Physical design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Database schema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Description of queries and reports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061" y="460825"/>
            <a:ext cx="6096000" cy="34150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/>
              <a:t>Executive Summary</a:t>
            </a:r>
            <a:endParaRPr lang="en-US" sz="1200" b="1" dirty="0" smtClean="0"/>
          </a:p>
          <a:p>
            <a:pPr>
              <a:lnSpc>
                <a:spcPct val="150000"/>
              </a:lnSpc>
            </a:pPr>
            <a:r>
              <a:rPr lang="en-US" sz="1200" dirty="0" smtClean="0"/>
              <a:t> The Bakery management system is a relatiomal database solution designed to digitise and integrate core business operations,with a primary emphasis on the supplies mnagement module.</a:t>
            </a: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/>
              <a:t>The system manages supplier information, supply orders, deliveries, and stock levels of bakery materials such as flour, sugar, and yeast.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By utilising  normlised MySQL architecture,the system ensures data integrity while providing real time insights in to stock levels,staff performances and productioncosts.</a:t>
            </a:r>
            <a:br>
              <a:rPr lang="en-US" sz="1200" dirty="0"/>
            </a:br>
            <a:r>
              <a:rPr lang="en-US" sz="1200" dirty="0"/>
              <a:t>It was developed to improve accuracy in record keeping, reduce stock shortages, and support efficient procurement decisions.</a:t>
            </a:r>
            <a:br>
              <a:rPr lang="en-US" sz="1200" dirty="0"/>
            </a:b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459" y="568620"/>
            <a:ext cx="5290820" cy="3969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/>
              <a:t>DATABASE PROJECT: Bakery Database Management System</a:t>
            </a:r>
            <a:endParaRPr lang="en-US" sz="1200" b="1" dirty="0" smtClean="0"/>
          </a:p>
          <a:p>
            <a:pPr>
              <a:lnSpc>
                <a:spcPct val="150000"/>
              </a:lnSpc>
            </a:pPr>
            <a:r>
              <a:rPr lang="en-US" sz="1200" b="1" dirty="0" smtClean="0"/>
              <a:t>AREA OF INTEREST: Supplies Management system</a:t>
            </a:r>
            <a:endParaRPr lang="en-US" sz="1200" b="1" dirty="0" smtClean="0"/>
          </a:p>
          <a:p>
            <a:pPr>
              <a:lnSpc>
                <a:spcPct val="150000"/>
              </a:lnSpc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1200" dirty="0" smtClean="0"/>
              <a:t>Possible Database Systems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 smtClean="0"/>
              <a:t>Supplies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 smtClean="0"/>
              <a:t>Inventory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 smtClean="0"/>
              <a:t>Customer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 smtClean="0"/>
              <a:t>Orders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 smtClean="0"/>
              <a:t>Employee</a:t>
            </a:r>
            <a:endParaRPr lang="en-US" sz="1200" dirty="0" smtClean="0"/>
          </a:p>
          <a:p>
            <a:pPr marL="285750" indent="-285750"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1200" dirty="0" smtClean="0"/>
          </a:p>
          <a:p>
            <a:pPr>
              <a:lnSpc>
                <a:spcPct val="150000"/>
              </a:lnSpc>
            </a:pPr>
            <a:endParaRPr lang="en-US" sz="1200" dirty="0" smtClean="0"/>
          </a:p>
          <a:p>
            <a:pPr>
              <a:lnSpc>
                <a:spcPct val="150000"/>
              </a:lnSpc>
            </a:pPr>
            <a:endParaRPr lang="en-US" sz="1200" dirty="0" smtClean="0"/>
          </a:p>
          <a:p>
            <a:pPr>
              <a:lnSpc>
                <a:spcPct val="150000"/>
              </a:lnSpc>
            </a:pPr>
            <a:endParaRPr lang="en-US" sz="1200" dirty="0" smtClean="0"/>
          </a:p>
          <a:p>
            <a:pPr>
              <a:lnSpc>
                <a:spcPct val="150000"/>
              </a:lnSpc>
            </a:pPr>
            <a:endParaRPr lang="en-US" sz="1200" b="1" dirty="0" smtClean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322580"/>
            <a:ext cx="3175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05" y="667717"/>
            <a:ext cx="6096000" cy="23069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Reasons for choosing supplies management as the area of interest: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Supplies management ensures that essential bakery materials such as flour, sugar, yeast, and butter are available when needed.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It helps prevent stock shortages and delays that can interrupt daily production.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It improves record keeping for suppliers, deliveries, and purchase orders.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It supports better planning and cost control by monitoring inventory levels and replenishment needs.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5590" y="964497"/>
            <a:ext cx="6096000" cy="17532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/>
              <a:t>Application Domain</a:t>
            </a:r>
            <a:endParaRPr lang="en-US" sz="1200" b="1" dirty="0" smtClean="0"/>
          </a:p>
          <a:p>
            <a:pPr>
              <a:lnSpc>
                <a:spcPct val="150000"/>
              </a:lnSpc>
            </a:pPr>
            <a:r>
              <a:rPr lang="en-US" sz="1200" b="1" dirty="0" smtClean="0"/>
              <a:t>Analysis benefits</a:t>
            </a:r>
            <a:endParaRPr lang="en-US" sz="1200" b="1" dirty="0" smtClean="0"/>
          </a:p>
          <a:p>
            <a:pPr>
              <a:lnSpc>
                <a:spcPct val="150000"/>
              </a:lnSpc>
            </a:pPr>
            <a:r>
              <a:rPr lang="en-US" sz="1200" b="1" dirty="0" smtClean="0"/>
              <a:t>Tangible </a:t>
            </a:r>
            <a:r>
              <a:rPr lang="en-US" sz="1200" b="1" dirty="0"/>
              <a:t>benefits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Reduced stock shortages and wastage of bakery materials.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Faster retrieval of supply records, purchase orders, and delivery information.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Better control of inventory levels and procurement costs.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649" y="1080067"/>
            <a:ext cx="6096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Intangible benefits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Better decision-making through reliable and organized information.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Improved efficiency in daily bakery operations.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Increased accountability among staff handling supplies.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946" y="941659"/>
            <a:ext cx="6096000" cy="17532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Analysis of costs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Tangible costs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Purchase of computers and related equipment for running the database system.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Cost of installing and maintaining the database software.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Staff training expenses for effective use of the system. 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9639" y="581795"/>
            <a:ext cx="6096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Intangible costs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Time required for staff to adapt to the new system.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Temporary reduction in productivity during the transition from manual records.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Resistance to change from users who are accustomed to existing methods.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740" y="673821"/>
            <a:ext cx="6096000" cy="24453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User issues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Staff require basic computer skills to use the system effectively.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Training is needed so users can correctly record supplies, deliveries, and stock updates.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Some staff may take time to adapt from manual record keeping to computerized records.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User acceptance and consistent use of the system are necessary for accurate and reliable information.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556" y="1051019"/>
            <a:ext cx="6096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/>
              <a:t>Risk assessment</a:t>
            </a:r>
            <a:endParaRPr lang="en-US" sz="1200" b="1" dirty="0" smtClean="0"/>
          </a:p>
          <a:p>
            <a:pPr>
              <a:lnSpc>
                <a:spcPct val="150000"/>
              </a:lnSpc>
            </a:pPr>
            <a:r>
              <a:rPr lang="en-US" sz="1200" b="1" dirty="0"/>
              <a:t> </a:t>
            </a:r>
            <a:r>
              <a:rPr lang="en-US" sz="1200" b="1" dirty="0" smtClean="0"/>
              <a:t>  Risk </a:t>
            </a:r>
            <a:r>
              <a:rPr lang="en-US" sz="1200" b="1" dirty="0"/>
              <a:t>assessment</a:t>
            </a:r>
            <a:r>
              <a:rPr lang="en-US" sz="1200" dirty="0"/>
              <a:t> is the process of identifying possible problems that may affect the operation of the system and evaluating how those problems can impact its performance, reliability, and </a:t>
            </a:r>
            <a:r>
              <a:rPr lang="en-US" sz="1200" dirty="0" smtClean="0"/>
              <a:t>effectiveness.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515" y="955265"/>
            <a:ext cx="6096000" cy="23069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For the Bakery Database System: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Technical failures such as computer breakdowns or software errors may affect access to supply records.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Data loss may occur if the database is not regularly backed up.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Unauthorized access can compromise the security of supplier and inventory information. </a:t>
            </a:r>
            <a:endParaRPr lang="en-US" sz="1200" dirty="0" smtClean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 smtClean="0"/>
              <a:t>Poor user adaption or incorrect data entry may reduce the reliability of the system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486" y="1822440"/>
            <a:ext cx="6096000" cy="28613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To conduct a </a:t>
            </a:r>
            <a:r>
              <a:rPr lang="en-US" sz="1200" b="1" dirty="0"/>
              <a:t>risk assessment</a:t>
            </a:r>
            <a:r>
              <a:rPr lang="en-US" sz="1200" dirty="0"/>
              <a:t> for your Bakery Database System, use a simple process:</a:t>
            </a:r>
            <a:endParaRPr lang="en-US" sz="12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Identify </a:t>
            </a:r>
            <a:r>
              <a:rPr lang="en-US" sz="1200" b="1" dirty="0" smtClean="0"/>
              <a:t>risks</a:t>
            </a:r>
            <a:r>
              <a:rPr lang="en-US" sz="1200" dirty="0" smtClean="0"/>
              <a:t>. </a:t>
            </a:r>
            <a:r>
              <a:rPr lang="en-US" sz="1200" dirty="0"/>
              <a:t>list possible problems that could affect the system, such as data loss, power failure, hardware failure, or incorrect data entry. </a:t>
            </a:r>
            <a:endParaRPr lang="en-US" sz="12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Assess </a:t>
            </a:r>
            <a:r>
              <a:rPr lang="en-US" sz="1200" b="1" dirty="0" smtClean="0"/>
              <a:t>likelihood</a:t>
            </a:r>
            <a:r>
              <a:rPr lang="en-US" sz="1200" dirty="0" smtClean="0"/>
              <a:t>. Estimate </a:t>
            </a:r>
            <a:r>
              <a:rPr lang="en-US" sz="1200" dirty="0"/>
              <a:t>how likely each risk is to happen (low, medium, or high). </a:t>
            </a:r>
            <a:endParaRPr lang="en-US" sz="12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Assess </a:t>
            </a:r>
            <a:r>
              <a:rPr lang="en-US" sz="1200" b="1" dirty="0" smtClean="0"/>
              <a:t>impact. Determine</a:t>
            </a:r>
            <a:r>
              <a:rPr lang="en-US" sz="1200" dirty="0" smtClean="0"/>
              <a:t> </a:t>
            </a:r>
            <a:r>
              <a:rPr lang="en-US" sz="1200" dirty="0"/>
              <a:t>how much the risk would affect bakery operations if it occurs. </a:t>
            </a:r>
            <a:endParaRPr lang="en-US" sz="12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/>
              <a:t>Plan </a:t>
            </a:r>
            <a:r>
              <a:rPr lang="en-US" sz="1200" b="1" dirty="0" smtClean="0"/>
              <a:t>controls</a:t>
            </a:r>
            <a:r>
              <a:rPr lang="en-US" sz="1200" dirty="0" smtClean="0"/>
              <a:t>. Decide </a:t>
            </a:r>
            <a:r>
              <a:rPr lang="en-US" sz="1200" dirty="0"/>
              <a:t>how to reduce or manage each risk, such as regular backups, passwords, staff training, and maintenance. 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6972" y="2268195"/>
            <a:ext cx="6096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/>
              <a:t>Limitations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dirty="0" smtClean="0"/>
              <a:t>Data loss is unavoidable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dirty="0" smtClean="0"/>
              <a:t>Semi skilled </a:t>
            </a:r>
            <a:r>
              <a:rPr lang="en-US" sz="1200" dirty="0" err="1" smtClean="0"/>
              <a:t>labour</a:t>
            </a:r>
            <a:endParaRPr lang="en-US" sz="1200" dirty="0" smtClean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dirty="0" smtClean="0"/>
              <a:t>Technical Complexity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715" y="1947653"/>
            <a:ext cx="6096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pPr>
              <a:buFont typeface="Arial" panose="02080604020202020204" pitchFamily="34" charset="0"/>
              <a:buChar char="•"/>
            </a:pP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395095" y="1167130"/>
            <a:ext cx="1373505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0000"/>
              </a:lnSpc>
            </a:pPr>
            <a:r>
              <a:rPr lang="en-US" sz="1200"/>
              <a:t>LOGICL DESIGN</a:t>
            </a:r>
            <a:endParaRPr lang="en-US" sz="1200"/>
          </a:p>
          <a:p>
            <a:pPr algn="l">
              <a:lnSpc>
                <a:spcPct val="150000"/>
              </a:lnSpc>
            </a:pPr>
            <a:r>
              <a:rPr lang="en-US" sz="1200"/>
              <a:t>a.list of entities</a:t>
            </a:r>
            <a:endParaRPr lang="en-US" sz="1200"/>
          </a:p>
          <a:p>
            <a:pPr marL="285750" indent="-285750" algn="l">
              <a:lnSpc>
                <a:spcPct val="150000"/>
              </a:lnSpc>
              <a:buFont typeface="+mj-lt"/>
              <a:buAutoNum type="romanUcPeriod"/>
            </a:pPr>
            <a:r>
              <a:rPr lang="en-US" sz="1200"/>
              <a:t>supplies</a:t>
            </a:r>
            <a:endParaRPr lang="en-US" sz="1200"/>
          </a:p>
          <a:p>
            <a:pPr marL="285750" indent="-285750" algn="l">
              <a:lnSpc>
                <a:spcPct val="150000"/>
              </a:lnSpc>
              <a:buFont typeface="+mj-lt"/>
              <a:buAutoNum type="romanUcPeriod"/>
            </a:pPr>
            <a:r>
              <a:rPr lang="en-US" sz="1200"/>
              <a:t>inventory</a:t>
            </a:r>
            <a:endParaRPr lang="en-US" sz="1200"/>
          </a:p>
          <a:p>
            <a:pPr marL="285750" indent="-285750" algn="l">
              <a:lnSpc>
                <a:spcPct val="150000"/>
              </a:lnSpc>
              <a:buFont typeface="+mj-lt"/>
              <a:buAutoNum type="romanUcPeriod"/>
            </a:pPr>
            <a:r>
              <a:rPr lang="en-US" sz="1200"/>
              <a:t>orders</a:t>
            </a:r>
            <a:endParaRPr lang="en-US" sz="1200"/>
          </a:p>
          <a:p>
            <a:pPr marL="285750" indent="-285750" algn="l">
              <a:lnSpc>
                <a:spcPct val="150000"/>
              </a:lnSpc>
              <a:buFont typeface="+mj-lt"/>
              <a:buAutoNum type="romanUcPeriod"/>
            </a:pPr>
            <a:r>
              <a:rPr lang="en-US" sz="1200"/>
              <a:t>employee</a:t>
            </a:r>
            <a:endParaRPr lang="en-US" sz="1200"/>
          </a:p>
          <a:p>
            <a:pPr marL="342900" indent="-342900" algn="l">
              <a:lnSpc>
                <a:spcPct val="150000"/>
              </a:lnSpc>
              <a:buAutoNum type="arabicPeriod"/>
            </a:pP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919" y="828015"/>
            <a:ext cx="6096000" cy="57238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smtClean="0"/>
              <a:t>LISTS OF ENTITIES  AND ATTRIBUTES</a:t>
            </a:r>
            <a:endParaRPr lang="en-US" sz="1200" dirty="0" smtClean="0"/>
          </a:p>
          <a:p>
            <a:pPr>
              <a:lnSpc>
                <a:spcPct val="150000"/>
              </a:lnSpc>
            </a:pPr>
            <a:endParaRPr lang="en-US" sz="1200" dirty="0" smtClean="0"/>
          </a:p>
          <a:p>
            <a:pPr>
              <a:lnSpc>
                <a:spcPct val="150000"/>
              </a:lnSpc>
            </a:pPr>
            <a:r>
              <a:rPr lang="en-US" sz="1200" dirty="0">
                <a:sym typeface="+mn-ea"/>
              </a:rPr>
              <a:t>Supplies [ Supplier ID (primary key ) , Supplier name , Contact Person Name , Phone Number, Email Address , Physical Address , Payment Terms ].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ym typeface="+mn-ea"/>
              </a:rPr>
              <a:t>Customers[ Customer ID (Primary key ), Full name, Email Address , Dietary Preferences ,].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ym typeface="+mn-ea"/>
              </a:rPr>
              <a:t>Orders[ Order ID (Primary Key ), Order date , Customer ID ( Foreign key to link the buyer ) , Employee ID ( Foreign key to track who processed the sale ), Payment Status( such as Paid, Pending,  Refunded), Order type ( such as Take away , Custom cake Delivery) ].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ym typeface="+mn-ea"/>
              </a:rPr>
              <a:t>Inventory [ Inventory ID(Primary key ), Item Name ( such as butter), Current quantity , Unit of measure , Expiry Date , Storage location ].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>
                <a:sym typeface="+mn-ea"/>
              </a:rPr>
              <a:t>Employees[ Employee ID (Primary key), First name and last name , Role ( such as Pastry chef , Cashier, Head  Baker,  Contact number and email Address , Hire Date , Salary.]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 flipV="1">
            <a:off x="334010" y="2104073"/>
            <a:ext cx="551434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  <a:t>_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3095"/>
            <a:ext cx="12192000" cy="81248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925" y="1966595"/>
            <a:ext cx="596265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smtClean="0"/>
              <a:t>Etity </a:t>
            </a:r>
            <a:r>
              <a:rPr lang="en-US" sz="1200" b="1" dirty="0"/>
              <a:t>relationships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One </a:t>
            </a:r>
            <a:r>
              <a:rPr lang="en-US" sz="1200" b="1" dirty="0"/>
              <a:t>Supplier</a:t>
            </a:r>
            <a:r>
              <a:rPr lang="en-US" sz="1200" dirty="0"/>
              <a:t> supplies many </a:t>
            </a:r>
            <a:r>
              <a:rPr lang="en-US" sz="1200" b="1" dirty="0"/>
              <a:t>Supply Items</a:t>
            </a:r>
            <a:r>
              <a:rPr lang="en-US" sz="1200" dirty="0"/>
              <a:t>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One </a:t>
            </a:r>
            <a:r>
              <a:rPr lang="en-US" sz="1200" b="1" dirty="0" smtClean="0">
                <a:sym typeface="+mn-ea"/>
              </a:rPr>
              <a:t>n</a:t>
            </a:r>
            <a:r>
              <a:rPr lang="en-US" sz="1200" b="1" dirty="0"/>
              <a:t>Supplier</a:t>
            </a:r>
            <a:r>
              <a:rPr lang="en-US" sz="1200" dirty="0"/>
              <a:t> can have many </a:t>
            </a:r>
            <a:r>
              <a:rPr lang="en-US" sz="1200" b="1" dirty="0"/>
              <a:t>Purchase Orders</a:t>
            </a:r>
            <a:r>
              <a:rPr lang="en-US" sz="1200" dirty="0"/>
              <a:t>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One </a:t>
            </a:r>
            <a:r>
              <a:rPr lang="en-US" sz="1200" b="1" dirty="0"/>
              <a:t>Purchase Order</a:t>
            </a:r>
            <a:r>
              <a:rPr lang="en-US" sz="1200" dirty="0"/>
              <a:t> can result in one or more </a:t>
            </a:r>
            <a:r>
              <a:rPr lang="en-US" sz="1200" b="1" dirty="0"/>
              <a:t>Deliveries</a:t>
            </a:r>
            <a:r>
              <a:rPr lang="en-US" sz="1200" dirty="0"/>
              <a:t>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One </a:t>
            </a:r>
            <a:r>
              <a:rPr lang="en-US" sz="1200" b="1" dirty="0"/>
              <a:t>Staff</a:t>
            </a:r>
            <a:r>
              <a:rPr lang="en-US" sz="1200" dirty="0"/>
              <a:t> member can receive many </a:t>
            </a:r>
            <a:r>
              <a:rPr lang="en-US" sz="1200" b="1" dirty="0"/>
              <a:t>Deliveries</a:t>
            </a:r>
            <a:r>
              <a:rPr lang="en-US" sz="1200" dirty="0"/>
              <a:t>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One </a:t>
            </a:r>
            <a:r>
              <a:rPr lang="en-US" sz="1200" b="1" dirty="0"/>
              <a:t>Customer</a:t>
            </a:r>
            <a:r>
              <a:rPr lang="en-US" sz="1200" dirty="0"/>
              <a:t> can place many </a:t>
            </a:r>
            <a:r>
              <a:rPr lang="en-US" sz="1200" b="1" dirty="0"/>
              <a:t>Sales Orders</a:t>
            </a:r>
            <a:r>
              <a:rPr lang="en-US" sz="1200" dirty="0"/>
              <a:t>. </a:t>
            </a:r>
            <a:endParaRPr lang="en-US" sz="1200" dirty="0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200" dirty="0"/>
              <a:t>One </a:t>
            </a:r>
            <a:r>
              <a:rPr lang="en-US" sz="1200" b="1" dirty="0"/>
              <a:t>Product</a:t>
            </a:r>
            <a:r>
              <a:rPr lang="en-US" sz="1200" dirty="0"/>
              <a:t> can appear in many </a:t>
            </a:r>
            <a:r>
              <a:rPr lang="en-US" sz="1200" b="1" dirty="0"/>
              <a:t>Sales Orders</a:t>
            </a:r>
            <a:r>
              <a:rPr lang="en-US" sz="1200" dirty="0"/>
              <a:t>. 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8140" y="1301115"/>
          <a:ext cx="812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Entity 1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Relationship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Entity 2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Cardinality</a:t>
                      </a:r>
                      <a:endParaRPr lang="en-US" sz="1200" dirty="0" smtClean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supplier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supplies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Supply item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One to many</a:t>
                      </a:r>
                      <a:endParaRPr lang="en-US" sz="1200" dirty="0" smtClean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supplier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places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Purchase order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One to many</a:t>
                      </a:r>
                      <a:endParaRPr lang="en-US" sz="1200" dirty="0" smtClean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Purchase</a:t>
                      </a:r>
                      <a:r>
                        <a:rPr lang="en-US" sz="1200" baseline="0" dirty="0" smtClean="0"/>
                        <a:t> order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Results in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Delivery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One to many</a:t>
                      </a:r>
                      <a:endParaRPr lang="en-US" sz="1200" dirty="0" smtClean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Staff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receives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Delivery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One to many</a:t>
                      </a:r>
                      <a:endParaRPr lang="en-US" sz="1200" dirty="0" smtClean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customer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places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Sales order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One to many</a:t>
                      </a:r>
                      <a:endParaRPr lang="en-US" sz="1200" dirty="0" smtClean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Product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Appears in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Sales order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smtClean="0"/>
                        <a:t>One to many</a:t>
                      </a:r>
                      <a:endParaRPr lang="en-US" sz="12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2760" y="682625"/>
            <a:ext cx="10972800" cy="582613"/>
          </a:xfrm>
        </p:spPr>
        <p:txBody>
          <a:bodyPr/>
          <a:lstStyle/>
          <a:p>
            <a:r>
              <a:rPr lang="en-US" sz="1200" dirty="0" smtClean="0"/>
              <a:t>SUMMARY OF RELATIONSHIP TABLE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sz="1200"/>
              <a:t>supplies Database System Physical Design</a:t>
            </a:r>
            <a:endParaRPr lang="en-US" sz="1200"/>
          </a:p>
        </p:txBody>
      </p:sp>
      <p:graphicFrame>
        <p:nvGraphicFramePr>
          <p:cNvPr id="6" name="Table 5"/>
          <p:cNvGraphicFramePr/>
          <p:nvPr/>
        </p:nvGraphicFramePr>
        <p:xfrm>
          <a:off x="258445" y="1019810"/>
          <a:ext cx="8922385" cy="5445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240"/>
                <a:gridCol w="2163445"/>
                <a:gridCol w="2163445"/>
                <a:gridCol w="2548255"/>
              </a:tblGrid>
              <a:tr h="118872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Entity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Attributes9PK=Primary Key,FK=foreighn Key)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data Type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Constraints</a:t>
                      </a:r>
                      <a:endParaRPr lang="en-US" sz="1200"/>
                    </a:p>
                  </a:txBody>
                  <a:tcPr/>
                </a:tc>
              </a:tr>
              <a:tr h="114744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Employees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ID(PK),Name,Role,Phone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INT,VAR,VAR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NOT NULL</a:t>
                      </a:r>
                      <a:endParaRPr lang="en-US" sz="1200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Supplies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ID(PK),Item Name,Category,Price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INT,VAR,DEC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UNIQUE</a:t>
                      </a:r>
                      <a:endParaRPr lang="en-US" sz="1200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Inventory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InvID(PK0,SupID(FK0,Stock,MinLevel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INT,INT,DEC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1:1 Link</a:t>
                      </a:r>
                      <a:endParaRPr lang="en-US" sz="1200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Orders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OrdID(PK),EmpID(FK),Date,Total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INT,INT,,DTE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AUTO-TIMESTAMPAA</a:t>
                      </a:r>
                      <a:endParaRPr lang="en-US" sz="12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Items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DateID(PK),OrdID(FK),SupID9FK0,ty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INT,INT,DEC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200"/>
                        <a:t>Junction Tables</a:t>
                      </a:r>
                      <a:endParaRPr lang="en-US" sz="1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6077</Words>
  <Application>WPS Presentation</Application>
  <PresentationFormat>Widescreen</PresentationFormat>
  <Paragraphs>258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DejaVu Sans</vt:lpstr>
      <vt:lpstr>Droid Sans Fallback</vt:lpstr>
      <vt:lpstr>Microsoft YaHei</vt:lpstr>
      <vt:lpstr>Arial Unicode MS</vt:lpstr>
      <vt:lpstr>Calibri</vt:lpstr>
      <vt:lpstr>OpenSymbol</vt:lpstr>
      <vt:lpstr>Gear Drives</vt:lpstr>
      <vt:lpstr>PowerPoint 演示文稿</vt:lpstr>
      <vt:lpstr>TABLE OF CONTENT</vt:lpstr>
      <vt:lpstr>CONTINUATION OF TABLE OF CONTENT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 OF RELATIONSHIP TABLE</vt:lpstr>
      <vt:lpstr>supplies Database System Physical Design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NAME: BAKERY MANAGEMENT</dc:title>
  <dc:creator>IAN</dc:creator>
  <cp:lastModifiedBy>stephen</cp:lastModifiedBy>
  <cp:revision>28</cp:revision>
  <dcterms:created xsi:type="dcterms:W3CDTF">2026-05-10T18:52:42Z</dcterms:created>
  <dcterms:modified xsi:type="dcterms:W3CDTF">2026-05-10T18:52:42Z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